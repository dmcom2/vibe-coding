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67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3884">
          <p15:clr>
            <a:srgbClr val="A4A3A4"/>
          </p15:clr>
        </p15:guide>
        <p15:guide id="4" orient="horz" pos="391">
          <p15:clr>
            <a:srgbClr val="A4A3A4"/>
          </p15:clr>
        </p15:guide>
        <p15:guide id="5" pos="444">
          <p15:clr>
            <a:srgbClr val="A4A3A4"/>
          </p15:clr>
        </p15:guide>
        <p15:guide id="6" pos="6068">
          <p15:clr>
            <a:srgbClr val="A4A3A4"/>
          </p15:clr>
        </p15:guide>
        <p15:guide id="7" pos="126">
          <p15:clr>
            <a:srgbClr val="A4A3A4"/>
          </p15:clr>
        </p15:guide>
        <p15:guide id="8" pos="2621">
          <p15:clr>
            <a:srgbClr val="A4A3A4"/>
          </p15:clr>
        </p15:guide>
        <p15:guide id="9" pos="4526">
          <p15:clr>
            <a:srgbClr val="A4A3A4"/>
          </p15:clr>
        </p15:guide>
        <p15:guide id="10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16" y="114"/>
      </p:cViewPr>
      <p:guideLst>
        <p:guide orient="horz" pos="1616"/>
        <p:guide orient="horz" pos="754"/>
        <p:guide orient="horz" pos="3884"/>
        <p:guide orient="horz" pos="391"/>
        <p:guide pos="444"/>
        <p:guide pos="6068"/>
        <p:guide pos="126"/>
        <p:guide pos="2621"/>
        <p:guide pos="452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349F5-465D-4E46-9065-7C1152B04FED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73114-BAEF-4F60-BDAD-2C2B71951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21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1"/>
          <p:cNvSpPr>
            <a:spLocks noChangeShapeType="1"/>
          </p:cNvSpPr>
          <p:nvPr/>
        </p:nvSpPr>
        <p:spPr bwMode="auto">
          <a:xfrm>
            <a:off x="641350" y="3140075"/>
            <a:ext cx="8415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pic>
        <p:nvPicPr>
          <p:cNvPr id="39" name="그림 16" descr="회사로고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631" y="6421438"/>
            <a:ext cx="14081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17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784350" y="2349500"/>
            <a:ext cx="6408738" cy="790575"/>
          </a:xfrm>
        </p:spPr>
        <p:txBody>
          <a:bodyPr anchor="b"/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6717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5384800" y="3825081"/>
            <a:ext cx="4025900" cy="792163"/>
          </a:xfrm>
        </p:spPr>
        <p:txBody>
          <a:bodyPr/>
          <a:lstStyle>
            <a:lvl1pPr marL="0" indent="0" algn="ctr">
              <a:defRPr sz="1600">
                <a:latin typeface="HY울릉도M" pitchFamily="18" charset="-127"/>
                <a:ea typeface="HY울릉도M" pitchFamily="18" charset="-127"/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0" name="직사각형 39"/>
          <p:cNvSpPr/>
          <p:nvPr/>
        </p:nvSpPr>
        <p:spPr>
          <a:xfrm rot="10800000">
            <a:off x="4334644" y="3262189"/>
            <a:ext cx="5076056" cy="2160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83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73050" y="6524625"/>
            <a:ext cx="2996333" cy="264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“</a:t>
            </a:r>
            <a:r>
              <a:rPr kumimoji="0" lang="ko-KR" altLang="en-US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경영혁신 활동으로 글로벌 경쟁력 확보</a:t>
            </a: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563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3308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123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1350" y="990600"/>
            <a:ext cx="4306888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0638" y="990600"/>
            <a:ext cx="4306887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2559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4191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1402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81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8200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55017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4138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67563" y="206375"/>
            <a:ext cx="2239962" cy="59293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44500" y="206375"/>
            <a:ext cx="6570663" cy="59293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87756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4500" y="206375"/>
            <a:ext cx="8915400" cy="425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41350" y="990600"/>
            <a:ext cx="8766175" cy="5145088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8412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6375"/>
            <a:ext cx="89154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HY</a:t>
            </a:r>
            <a:r>
              <a:rPr lang="ko-KR" altLang="en-US"/>
              <a:t>울릉도</a:t>
            </a:r>
            <a:r>
              <a:rPr lang="en-US" altLang="ko-KR"/>
              <a:t>M(</a:t>
            </a:r>
            <a:r>
              <a:rPr lang="ko-KR" altLang="en-US"/>
              <a:t>한글</a:t>
            </a:r>
            <a:r>
              <a:rPr lang="en-US" altLang="ko-KR"/>
              <a:t>/</a:t>
            </a:r>
            <a:r>
              <a:rPr lang="ko-KR" altLang="en-US"/>
              <a:t>영문</a:t>
            </a:r>
            <a:r>
              <a:rPr lang="en-US" altLang="ko-KR"/>
              <a:t>) </a:t>
            </a:r>
            <a:r>
              <a:rPr lang="ko-KR" altLang="en-US"/>
              <a:t>폰트 크기 </a:t>
            </a:r>
            <a:r>
              <a:rPr lang="en-US" altLang="ko-KR"/>
              <a:t>18</a:t>
            </a:r>
          </a:p>
        </p:txBody>
      </p:sp>
      <p:sp>
        <p:nvSpPr>
          <p:cNvPr id="102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1350" y="990600"/>
            <a:ext cx="8766175" cy="514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Line 18"/>
          <p:cNvSpPr>
            <a:spLocks noChangeShapeType="1"/>
          </p:cNvSpPr>
          <p:nvPr/>
        </p:nvSpPr>
        <p:spPr bwMode="auto">
          <a:xfrm>
            <a:off x="273050" y="6423025"/>
            <a:ext cx="9367838" cy="0"/>
          </a:xfrm>
          <a:prstGeom prst="line">
            <a:avLst/>
          </a:prstGeom>
          <a:noFill/>
          <a:ln w="57150" cmpd="thinThick">
            <a:solidFill>
              <a:srgbClr val="8DADD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0" bIns="0" anchor="ctr">
            <a:spAutoFit/>
          </a:bodyPr>
          <a:lstStyle/>
          <a:p>
            <a:endParaRPr lang="ko-KR" altLang="en-US" dirty="0"/>
          </a:p>
        </p:txBody>
      </p:sp>
      <p:sp>
        <p:nvSpPr>
          <p:cNvPr id="1031" name="Rectangle 22"/>
          <p:cNvSpPr>
            <a:spLocks noChangeArrowheads="1"/>
          </p:cNvSpPr>
          <p:nvPr/>
        </p:nvSpPr>
        <p:spPr bwMode="auto">
          <a:xfrm>
            <a:off x="4840288" y="6562725"/>
            <a:ext cx="22701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ko-KR" b="1" dirty="0">
                <a:latin typeface="Arial" charset="0"/>
              </a:rPr>
              <a:t> </a:t>
            </a:r>
            <a:fld id="{E75CB7D1-21D7-4C1E-932C-106770B2D3F1}" type="slidenum">
              <a:rPr lang="en-US" altLang="ko-KR" b="1">
                <a:latin typeface="Arial" charset="0"/>
              </a:rPr>
              <a:pPr algn="ctr"/>
              <a:t>‹#›</a:t>
            </a:fld>
            <a:endParaRPr lang="en-US" altLang="ko-KR" b="1" dirty="0">
              <a:latin typeface="Arial" charset="0"/>
            </a:endParaRPr>
          </a:p>
        </p:txBody>
      </p:sp>
      <p:pic>
        <p:nvPicPr>
          <p:cNvPr id="1032" name="그림 16" descr="회사로고.gif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3" y="6462713"/>
            <a:ext cx="12795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-9525" y="-1"/>
            <a:ext cx="9915525" cy="631825"/>
          </a:xfrm>
          <a:prstGeom prst="rect">
            <a:avLst/>
          </a:prstGeom>
          <a:solidFill>
            <a:srgbClr val="1C1F92"/>
          </a:solidFill>
          <a:ln w="28575" algn="ctr">
            <a:noFill/>
            <a:miter lim="800000"/>
            <a:headEnd/>
            <a:tailEnd/>
          </a:ln>
        </p:spPr>
        <p:txBody>
          <a:bodyPr wrap="none" lIns="35994" tIns="35994" rIns="35994" bIns="35994" anchor="ctr"/>
          <a:lstStyle/>
          <a:p>
            <a:pPr algn="l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73050" y="6524625"/>
            <a:ext cx="2996333" cy="264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“</a:t>
            </a:r>
            <a:r>
              <a:rPr kumimoji="0" lang="ko-KR" altLang="en-US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경영혁신 활동으로 글로벌 경쟁력 확보</a:t>
            </a: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”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95250" indent="-95250" algn="just" rtl="0" eaLnBrk="1" fontAlgn="base" latinLnBrk="1" hangingPunct="1">
        <a:lnSpc>
          <a:spcPct val="120000"/>
        </a:lnSpc>
        <a:spcBef>
          <a:spcPct val="70000"/>
        </a:spcBef>
        <a:spcAft>
          <a:spcPct val="0"/>
        </a:spcAft>
        <a:buClr>
          <a:srgbClr val="969696"/>
        </a:buClr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63550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Font typeface="Monotype Sorts" pitchFamily="2" charset="2"/>
        <a:buChar char="q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804863" indent="-161925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2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160463" indent="-1762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15287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19859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4431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29003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3575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istudio.google.com/api-key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nerativelanguage.googleapis.com/v1beta/openai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57054" y="2335852"/>
            <a:ext cx="6540784" cy="790575"/>
          </a:xfrm>
        </p:spPr>
        <p:txBody>
          <a:bodyPr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Cline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설치 및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API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연결 매뉴얼</a:t>
            </a:r>
          </a:p>
        </p:txBody>
      </p:sp>
    </p:spTree>
    <p:extLst>
      <p:ext uri="{BB962C8B-B14F-4D97-AF65-F5344CB8AC3E}">
        <p14:creationId xmlns:p14="http://schemas.microsoft.com/office/powerpoint/2010/main" val="1346406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984" y="1151629"/>
            <a:ext cx="5071142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4" name="그림 3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2" y="1151629"/>
            <a:ext cx="4287220" cy="3934800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Cline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VS Code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4890024" y="4238714"/>
            <a:ext cx="792330" cy="2517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  <a:hlinkClick r:id="rId4"/>
              </a:rPr>
              <a:t>https://code.visualstudio.com/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Download for Windows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설치 파일 실행 후 동의합니다 클릭 후 설치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1642607" y="3278689"/>
            <a:ext cx="1579157" cy="65018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337143" y="301996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02494" y="3930937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811624" y="4490462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8145616" y="4766582"/>
            <a:ext cx="704588" cy="24979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035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416" y="1145826"/>
            <a:ext cx="7062256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67" y="2556767"/>
            <a:ext cx="2950151" cy="1682416"/>
          </a:xfrm>
          <a:prstGeom prst="rect">
            <a:avLst/>
          </a:prstGeom>
        </p:spPr>
      </p:pic>
      <p:pic>
        <p:nvPicPr>
          <p:cNvPr id="6" name="그림 5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02603" y="1150319"/>
            <a:ext cx="22811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Cline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Cline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302603" y="3910018"/>
            <a:ext cx="283808" cy="44076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23" y="3638340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VS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Extensions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검색창에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Cline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Cline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프로그램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Install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, Trust Publisher &amp; Install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설치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3081766" y="1628510"/>
            <a:ext cx="2161353" cy="29257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822463" y="1374540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4832074" y="2252624"/>
            <a:ext cx="411045" cy="18245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174468" y="2021161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6880386" y="3946117"/>
            <a:ext cx="887820" cy="22321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536295" y="3722373"/>
            <a:ext cx="34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④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55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63" y="1167086"/>
            <a:ext cx="4680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3" name="그림 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2603" y="1169462"/>
            <a:ext cx="4680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Cline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발급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136371" y="1254408"/>
            <a:ext cx="846231" cy="44076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28545" y="1109139"/>
            <a:ext cx="2986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  <a:hlinkClick r:id="rId4"/>
              </a:rPr>
              <a:t>https://aistudio.google.com/api-keys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 후 개인 구글 계정 로그인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API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키 만들기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기본 값 유지 후 키 만들기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8665828" y="4162120"/>
            <a:ext cx="805343" cy="44869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376784" y="3891333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69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08891" y="1158697"/>
            <a:ext cx="6719506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Cline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 연결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5930087" y="4610813"/>
            <a:ext cx="941149" cy="32191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82873" y="4338526"/>
            <a:ext cx="2986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생성된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API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키 복사 클릭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VS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코드 실행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Cline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프로그램 아이콘 클릭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Bring my own API key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체크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Continue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971" y="1147265"/>
            <a:ext cx="25691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13" name="직사각형 12"/>
          <p:cNvSpPr/>
          <p:nvPr/>
        </p:nvSpPr>
        <p:spPr bwMode="auto">
          <a:xfrm>
            <a:off x="7065972" y="2460757"/>
            <a:ext cx="283808" cy="2844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7385184" y="3179969"/>
            <a:ext cx="2139819" cy="36857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7400423" y="4379366"/>
            <a:ext cx="2039914" cy="2314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065972" y="2931878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677016" y="2177890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103546" y="4071589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148281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456" y="1169774"/>
            <a:ext cx="6467827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87" y="1162154"/>
            <a:ext cx="2873758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Cline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 연결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519950" y="2074333"/>
            <a:ext cx="2358717" cy="12866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26845" y="1760944"/>
            <a:ext cx="76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API Provider :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OpenAI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compatible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Base URL :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  <a:hlinkClick r:id="rId4"/>
              </a:rPr>
              <a:t>https://generativelanguage.googleapis.com/v1beta/openai/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OpenAI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Compatible API Key :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복사한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API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키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④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Model ID : gemini-3.1-flash-lite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또는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Antigravity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⑤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Continue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Cline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사용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519950" y="2363063"/>
            <a:ext cx="1173383" cy="12260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519950" y="2685681"/>
            <a:ext cx="2358717" cy="12963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480935" y="4530994"/>
            <a:ext cx="2564269" cy="17523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21632" y="2437551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26845" y="2138665"/>
            <a:ext cx="12654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21632" y="4263317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4A49E1-664D-21FB-9AF5-307D233B2B6A}"/>
              </a:ext>
            </a:extLst>
          </p:cNvPr>
          <p:cNvSpPr/>
          <p:nvPr/>
        </p:nvSpPr>
        <p:spPr bwMode="auto">
          <a:xfrm>
            <a:off x="480936" y="3216534"/>
            <a:ext cx="2397732" cy="17523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9D1A4-6502-14CA-4C7F-349DBBFE77CB}"/>
              </a:ext>
            </a:extLst>
          </p:cNvPr>
          <p:cNvSpPr/>
          <p:nvPr/>
        </p:nvSpPr>
        <p:spPr>
          <a:xfrm>
            <a:off x="221632" y="2948857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49870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EA9E-841A-3F0B-157E-23F01C58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50E8F04-4C60-59A1-B57E-72C3AB8CF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81" y="1158260"/>
            <a:ext cx="4680000" cy="1136125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5A2FDA-B893-CA07-92DB-88D997940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63" y="1158697"/>
            <a:ext cx="4641651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F0D2EEF-FBC7-B59D-FA4E-87EAFFCE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Cline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1FDED-5D38-DF53-3F83-AEF867038285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VS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Code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한글 변경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303E3F-880F-DD6D-F840-98FCDD38D3B0}"/>
              </a:ext>
            </a:extLst>
          </p:cNvPr>
          <p:cNvSpPr/>
          <p:nvPr/>
        </p:nvSpPr>
        <p:spPr bwMode="auto">
          <a:xfrm>
            <a:off x="338617" y="3012243"/>
            <a:ext cx="236150" cy="1988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4DD494-6243-CADD-A588-B5B7B3BA2ACA}"/>
              </a:ext>
            </a:extLst>
          </p:cNvPr>
          <p:cNvSpPr/>
          <p:nvPr/>
        </p:nvSpPr>
        <p:spPr>
          <a:xfrm>
            <a:off x="0" y="2759320"/>
            <a:ext cx="76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11817-4060-C3B9-4A56-EABA166FE514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VS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Extensions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 창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Korean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Korean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Languge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Pack for Visual Studio Code Install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설치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Change Language and Restart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B7C2EF-61D5-0762-A5C8-A4E5FC7BE120}"/>
              </a:ext>
            </a:extLst>
          </p:cNvPr>
          <p:cNvSpPr/>
          <p:nvPr/>
        </p:nvSpPr>
        <p:spPr bwMode="auto">
          <a:xfrm>
            <a:off x="767361" y="1731425"/>
            <a:ext cx="1784250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2556B4-230B-E10C-A9EA-33B820E22C68}"/>
              </a:ext>
            </a:extLst>
          </p:cNvPr>
          <p:cNvSpPr/>
          <p:nvPr/>
        </p:nvSpPr>
        <p:spPr bwMode="auto">
          <a:xfrm>
            <a:off x="4406537" y="2325189"/>
            <a:ext cx="435429" cy="252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846112-3A48-DDEE-96D1-7F52B777B9A9}"/>
              </a:ext>
            </a:extLst>
          </p:cNvPr>
          <p:cNvSpPr/>
          <p:nvPr/>
        </p:nvSpPr>
        <p:spPr>
          <a:xfrm>
            <a:off x="4045541" y="214920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985351-A898-5AD7-69B1-FE209A854210}"/>
              </a:ext>
            </a:extLst>
          </p:cNvPr>
          <p:cNvSpPr/>
          <p:nvPr/>
        </p:nvSpPr>
        <p:spPr>
          <a:xfrm>
            <a:off x="456692" y="1419149"/>
            <a:ext cx="12654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E4BDE8-3E79-7ED2-6ADD-762679FB81D6}"/>
              </a:ext>
            </a:extLst>
          </p:cNvPr>
          <p:cNvSpPr/>
          <p:nvPr/>
        </p:nvSpPr>
        <p:spPr bwMode="auto">
          <a:xfrm>
            <a:off x="7586649" y="1824974"/>
            <a:ext cx="2027618" cy="30777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7001AD-F7E2-A523-8A79-A33FAA7F021F}"/>
              </a:ext>
            </a:extLst>
          </p:cNvPr>
          <p:cNvSpPr/>
          <p:nvPr/>
        </p:nvSpPr>
        <p:spPr>
          <a:xfrm>
            <a:off x="7298579" y="1517197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543847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DD24-F07A-829E-7217-92F352B1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6C989-F56B-A533-ABDF-E8C666089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054" y="2335852"/>
            <a:ext cx="6540784" cy="790575"/>
          </a:xfrm>
        </p:spPr>
        <p:txBody>
          <a:bodyPr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Git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설치 및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Github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연결 매뉴얼</a:t>
            </a:r>
          </a:p>
        </p:txBody>
      </p:sp>
    </p:spTree>
    <p:extLst>
      <p:ext uri="{BB962C8B-B14F-4D97-AF65-F5344CB8AC3E}">
        <p14:creationId xmlns:p14="http://schemas.microsoft.com/office/powerpoint/2010/main" val="1988738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2A44-9313-DB98-9C0D-CF2899B9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7E06D8C-3220-EBC8-8A37-274496D88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500" y="1173776"/>
            <a:ext cx="42189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1C31D3-AB8B-51C5-99A7-E8E4ECF911DE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7350" y="1171436"/>
            <a:ext cx="5072400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4327EDC-9F3B-037F-D9B9-7BB6E637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7E218-4158-9F17-430A-E7ED2309249A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Git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4E007E-0C69-15B4-E9A3-510FCB67B795}"/>
              </a:ext>
            </a:extLst>
          </p:cNvPr>
          <p:cNvSpPr/>
          <p:nvPr/>
        </p:nvSpPr>
        <p:spPr bwMode="auto">
          <a:xfrm>
            <a:off x="5591049" y="2371320"/>
            <a:ext cx="1158093" cy="2517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169C4-BFAF-412A-18F4-E62E0E092B5B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https://git-scm.com/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Install for Windows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Click here to download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파일 실행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D55215-E876-DD25-64D7-C95063B13F69}"/>
              </a:ext>
            </a:extLst>
          </p:cNvPr>
          <p:cNvSpPr/>
          <p:nvPr/>
        </p:nvSpPr>
        <p:spPr bwMode="auto">
          <a:xfrm>
            <a:off x="3851243" y="4332800"/>
            <a:ext cx="1452277" cy="34431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303485-C81C-B44C-D57C-9CF241DB0530}"/>
              </a:ext>
            </a:extLst>
          </p:cNvPr>
          <p:cNvSpPr/>
          <p:nvPr/>
        </p:nvSpPr>
        <p:spPr>
          <a:xfrm>
            <a:off x="3545779" y="4074080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483182-2C82-D718-06DA-6F31340F3570}"/>
              </a:ext>
            </a:extLst>
          </p:cNvPr>
          <p:cNvSpPr/>
          <p:nvPr/>
        </p:nvSpPr>
        <p:spPr>
          <a:xfrm>
            <a:off x="5303520" y="2063543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829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075E3-BF73-B3C3-4692-6278D53D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703009-CE5B-0769-F209-823986286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89" y="1156358"/>
            <a:ext cx="4565574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35A6602-A60C-F14F-708D-1785A36871F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27" y="1156358"/>
            <a:ext cx="4757953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BB308B8-DA2A-276D-F703-7E26B3A5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DA1D9-80F5-7589-A76E-BE42AF48AD45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Git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33330F-E08B-8B78-D12F-9068868B5282}"/>
              </a:ext>
            </a:extLst>
          </p:cNvPr>
          <p:cNvSpPr/>
          <p:nvPr/>
        </p:nvSpPr>
        <p:spPr bwMode="auto">
          <a:xfrm>
            <a:off x="8316832" y="4807951"/>
            <a:ext cx="602491" cy="19947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E7333-E530-3557-6FE1-A2C1298664AB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설치 프로그램 클릭 후 설치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Choosing the default editor used by Git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창에서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   Use Visual Studio Code as Git’s default editor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로 변경 후 설치 계속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40B758-873F-9962-1B1F-D34E09E1FF9F}"/>
              </a:ext>
            </a:extLst>
          </p:cNvPr>
          <p:cNvSpPr/>
          <p:nvPr/>
        </p:nvSpPr>
        <p:spPr bwMode="auto">
          <a:xfrm>
            <a:off x="3701279" y="4820862"/>
            <a:ext cx="618172" cy="18656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52A825-0FAD-CB45-64EE-FC931A08070A}"/>
              </a:ext>
            </a:extLst>
          </p:cNvPr>
          <p:cNvSpPr/>
          <p:nvPr/>
        </p:nvSpPr>
        <p:spPr>
          <a:xfrm>
            <a:off x="3383962" y="4518867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E51C01-F00D-FB69-218A-1333A9BC36F5}"/>
              </a:ext>
            </a:extLst>
          </p:cNvPr>
          <p:cNvSpPr/>
          <p:nvPr/>
        </p:nvSpPr>
        <p:spPr>
          <a:xfrm>
            <a:off x="8029303" y="4500174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13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7AE6-4193-33C3-35B1-95AA343F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1308664-562D-7B30-8D28-BFF954EA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198" y="1148861"/>
            <a:ext cx="4638925" cy="1562318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24F6B3-E2C0-DFDE-8B01-181EAC394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65" y="1149468"/>
            <a:ext cx="4638926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B9A236-CDFA-7952-BB27-FABEF331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44DD9-35F3-DB1E-00B7-F27CB07FDCF5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en-US" altLang="ko-KR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가입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165443-4755-FD92-93D0-91C6118D5BC2}"/>
              </a:ext>
            </a:extLst>
          </p:cNvPr>
          <p:cNvSpPr/>
          <p:nvPr/>
        </p:nvSpPr>
        <p:spPr bwMode="auto">
          <a:xfrm>
            <a:off x="5031948" y="1699117"/>
            <a:ext cx="4559978" cy="3726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B9B30-9CE0-61E3-860A-64C7002C9B06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  <a:hlinkClick r:id="rId4"/>
              </a:rPr>
              <a:t>https://github.com/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Sign up for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Github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Continue with Google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회원 가입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DBD1E3-63F0-24CC-5869-15D151FE0190}"/>
              </a:ext>
            </a:extLst>
          </p:cNvPr>
          <p:cNvSpPr/>
          <p:nvPr/>
        </p:nvSpPr>
        <p:spPr bwMode="auto">
          <a:xfrm>
            <a:off x="2142444" y="4298285"/>
            <a:ext cx="1241517" cy="5959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8327CE-7BEA-CA11-BD92-A544E32EB602}"/>
              </a:ext>
            </a:extLst>
          </p:cNvPr>
          <p:cNvSpPr/>
          <p:nvPr/>
        </p:nvSpPr>
        <p:spPr>
          <a:xfrm>
            <a:off x="1855266" y="3990508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6FBC2B-3C10-5D4B-D9DD-F7DCBBC0E000}"/>
              </a:ext>
            </a:extLst>
          </p:cNvPr>
          <p:cNvSpPr/>
          <p:nvPr/>
        </p:nvSpPr>
        <p:spPr>
          <a:xfrm>
            <a:off x="4914780" y="1356987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685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8849-05CD-2DA6-40D4-A0064D68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686C0AA-28A1-5CAB-D849-E9CC641045F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37" y="1154020"/>
            <a:ext cx="7704936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F151E6A-C467-62BE-2800-3768F6BC3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76" y="1149478"/>
            <a:ext cx="1634360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9669CC-4DF8-2C6D-64D7-524D2C92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42401-9715-5A2D-3B9C-5EECAB49EBB1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en-US" altLang="ko-KR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토큰 발급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1BF914-C39F-B8BA-6635-24DB44C7301B}"/>
              </a:ext>
            </a:extLst>
          </p:cNvPr>
          <p:cNvSpPr/>
          <p:nvPr/>
        </p:nvSpPr>
        <p:spPr bwMode="auto">
          <a:xfrm>
            <a:off x="370534" y="3540371"/>
            <a:ext cx="743302" cy="20041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76397-03F9-5198-743D-620E006581E5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오른쪽 상단 프로필 클릭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Settings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진입 후 왼쪽 하단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Developer Settings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진입 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Personal access tokens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→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Tokens (classic)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③ Generate new token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→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Generate new token(classic)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8FC9FC-F45F-A22F-02F0-4F78A14D92EC}"/>
              </a:ext>
            </a:extLst>
          </p:cNvPr>
          <p:cNvSpPr/>
          <p:nvPr/>
        </p:nvSpPr>
        <p:spPr bwMode="auto">
          <a:xfrm>
            <a:off x="2158157" y="2306557"/>
            <a:ext cx="872426" cy="2299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5BA954-7DCA-E456-956C-4F583D099F1D}"/>
              </a:ext>
            </a:extLst>
          </p:cNvPr>
          <p:cNvSpPr/>
          <p:nvPr/>
        </p:nvSpPr>
        <p:spPr>
          <a:xfrm>
            <a:off x="1937735" y="1998780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4ADDFC-9158-DCCA-3030-F85D1E3E8232}"/>
              </a:ext>
            </a:extLst>
          </p:cNvPr>
          <p:cNvSpPr/>
          <p:nvPr/>
        </p:nvSpPr>
        <p:spPr>
          <a:xfrm>
            <a:off x="1078606" y="327354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DB2C51-2178-3F4A-E7BE-32DEB1E419C4}"/>
              </a:ext>
            </a:extLst>
          </p:cNvPr>
          <p:cNvSpPr/>
          <p:nvPr/>
        </p:nvSpPr>
        <p:spPr bwMode="auto">
          <a:xfrm>
            <a:off x="1656587" y="1197135"/>
            <a:ext cx="281149" cy="2299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EDFB75-D965-36D3-F8B9-ABA34F742BAC}"/>
              </a:ext>
            </a:extLst>
          </p:cNvPr>
          <p:cNvSpPr/>
          <p:nvPr/>
        </p:nvSpPr>
        <p:spPr>
          <a:xfrm>
            <a:off x="1937736" y="1049210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C82805-3E1E-B4EB-F8C5-B3EE76F2242D}"/>
              </a:ext>
            </a:extLst>
          </p:cNvPr>
          <p:cNvSpPr/>
          <p:nvPr/>
        </p:nvSpPr>
        <p:spPr bwMode="auto">
          <a:xfrm>
            <a:off x="6381814" y="3136496"/>
            <a:ext cx="1020472" cy="2299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5716F4F-FA28-217D-A691-2F4DE396B34D}"/>
              </a:ext>
            </a:extLst>
          </p:cNvPr>
          <p:cNvSpPr/>
          <p:nvPr/>
        </p:nvSpPr>
        <p:spPr>
          <a:xfrm>
            <a:off x="6161391" y="2828719"/>
            <a:ext cx="42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④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E9D1862-4104-1788-1694-7AF728D01087}"/>
              </a:ext>
            </a:extLst>
          </p:cNvPr>
          <p:cNvSpPr/>
          <p:nvPr/>
        </p:nvSpPr>
        <p:spPr bwMode="auto">
          <a:xfrm>
            <a:off x="5361342" y="3823175"/>
            <a:ext cx="2040944" cy="45273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4CB320-46D4-38B4-D61F-3475D09FDDD7}"/>
              </a:ext>
            </a:extLst>
          </p:cNvPr>
          <p:cNvSpPr/>
          <p:nvPr/>
        </p:nvSpPr>
        <p:spPr>
          <a:xfrm>
            <a:off x="5140919" y="3515399"/>
            <a:ext cx="42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⑤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60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16CA6-9420-DB62-A304-63DFFF3F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F93BAFBA-26C2-6FA3-FDBE-454AE3A74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107" y="1154232"/>
            <a:ext cx="4445565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C004CCB-328D-D79B-B105-A71B456B0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73" y="1155692"/>
            <a:ext cx="486767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9E27F85-C102-480C-5174-4577F6FA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36A92-545C-2156-58B6-86C3004C2E0C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en-US" altLang="ko-KR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토큰 발급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9D5851-A853-02DD-5AF0-2B645DAC4595}"/>
              </a:ext>
            </a:extLst>
          </p:cNvPr>
          <p:cNvSpPr/>
          <p:nvPr/>
        </p:nvSpPr>
        <p:spPr bwMode="auto">
          <a:xfrm>
            <a:off x="418048" y="3457304"/>
            <a:ext cx="4534951" cy="122790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47297-5F10-4FF0-1787-94B4E6756EF7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Token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이름 설정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Token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만료일 설정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③ Token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권한 설정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(repo, workflow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체크 후 하단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Generate token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)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④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생성 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Token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복사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추후 확인 불가능 하므로 반드시 복사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)</a:t>
            </a: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9AC7BB-CDF4-1300-C6E3-BB7F841821D9}"/>
              </a:ext>
            </a:extLst>
          </p:cNvPr>
          <p:cNvSpPr/>
          <p:nvPr/>
        </p:nvSpPr>
        <p:spPr bwMode="auto">
          <a:xfrm>
            <a:off x="418048" y="2592242"/>
            <a:ext cx="1227871" cy="2299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E738A0-1C3E-06B1-8724-E31E2CEE8B2A}"/>
              </a:ext>
            </a:extLst>
          </p:cNvPr>
          <p:cNvSpPr/>
          <p:nvPr/>
        </p:nvSpPr>
        <p:spPr>
          <a:xfrm>
            <a:off x="4782992" y="3128935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45B3FC-C98E-B13C-F6C4-E3B21AB3AFC1}"/>
              </a:ext>
            </a:extLst>
          </p:cNvPr>
          <p:cNvSpPr/>
          <p:nvPr/>
        </p:nvSpPr>
        <p:spPr>
          <a:xfrm>
            <a:off x="1659736" y="239293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45C144-FBA7-7D76-7D90-CA848EC5CAE1}"/>
              </a:ext>
            </a:extLst>
          </p:cNvPr>
          <p:cNvSpPr/>
          <p:nvPr/>
        </p:nvSpPr>
        <p:spPr bwMode="auto">
          <a:xfrm>
            <a:off x="373779" y="2015703"/>
            <a:ext cx="2656804" cy="2299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582281-DE61-4331-F378-2B87407D742D}"/>
              </a:ext>
            </a:extLst>
          </p:cNvPr>
          <p:cNvSpPr/>
          <p:nvPr/>
        </p:nvSpPr>
        <p:spPr>
          <a:xfrm>
            <a:off x="2982513" y="1746491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4D0C7F-AE2D-C4B5-BE2E-7E7B3A2D96E2}"/>
              </a:ext>
            </a:extLst>
          </p:cNvPr>
          <p:cNvSpPr/>
          <p:nvPr/>
        </p:nvSpPr>
        <p:spPr bwMode="auto">
          <a:xfrm>
            <a:off x="5537014" y="3342353"/>
            <a:ext cx="3950938" cy="50683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F75B41-D227-3286-C412-132C14A714BD}"/>
              </a:ext>
            </a:extLst>
          </p:cNvPr>
          <p:cNvSpPr/>
          <p:nvPr/>
        </p:nvSpPr>
        <p:spPr>
          <a:xfrm>
            <a:off x="9354185" y="3030111"/>
            <a:ext cx="42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④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99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B061-12B1-26F5-0F69-126FFA43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7231A752-814F-83D9-C4CB-338CC9F7B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24" y="4222772"/>
            <a:ext cx="9323452" cy="863538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86F6EF-C0F0-1B16-FE8F-3BBC51473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582" y="1152827"/>
            <a:ext cx="4691094" cy="3055366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4AE40C6-0587-BD70-5303-0D365ACA3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73" y="1154021"/>
            <a:ext cx="4658135" cy="3055366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6BE7976-80D8-4D3A-BEAB-B3DC53FB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4137E-F0F9-F517-EFBB-B7FB5E480530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en-US" altLang="ko-KR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dirty="0">
                <a:latin typeface="HY견고딕" pitchFamily="18" charset="-127"/>
                <a:ea typeface="HY견고딕" pitchFamily="18" charset="-127"/>
              </a:rPr>
              <a:t>repository</a:t>
            </a:r>
            <a:r>
              <a:rPr lang="ko-KR" altLang="en-US" sz="1800" dirty="0">
                <a:latin typeface="HY견고딕" pitchFamily="18" charset="-127"/>
                <a:ea typeface="HY견고딕" pitchFamily="18" charset="-127"/>
              </a:rPr>
              <a:t>생성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27B8CF-FC0C-EFD5-DAF8-F2EDC372E1A5}"/>
              </a:ext>
            </a:extLst>
          </p:cNvPr>
          <p:cNvSpPr/>
          <p:nvPr/>
        </p:nvSpPr>
        <p:spPr bwMode="auto">
          <a:xfrm>
            <a:off x="6357256" y="1811385"/>
            <a:ext cx="3227752" cy="151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54B0C-149E-D429-1E51-CA7CAFA1FDCE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페이지 왼쪽 상단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Github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아이콘 클릭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Home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이동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Create repository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③ Repository name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 및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Choose visibility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를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Private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으로 변경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Create repository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④ repository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생성 후 나오는 링크 복사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604CC1-7565-7020-7205-6EBF3CE852AD}"/>
              </a:ext>
            </a:extLst>
          </p:cNvPr>
          <p:cNvSpPr/>
          <p:nvPr/>
        </p:nvSpPr>
        <p:spPr bwMode="auto">
          <a:xfrm>
            <a:off x="590641" y="2780412"/>
            <a:ext cx="2100309" cy="4356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615CA4-5A94-F494-55B4-C4C0F8AC9E66}"/>
              </a:ext>
            </a:extLst>
          </p:cNvPr>
          <p:cNvSpPr/>
          <p:nvPr/>
        </p:nvSpPr>
        <p:spPr>
          <a:xfrm>
            <a:off x="6080018" y="1537902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E79912-32D3-1C8A-953A-32AB150061B9}"/>
              </a:ext>
            </a:extLst>
          </p:cNvPr>
          <p:cNvSpPr/>
          <p:nvPr/>
        </p:nvSpPr>
        <p:spPr>
          <a:xfrm>
            <a:off x="302153" y="2516298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61080F7-F76D-3A05-6D41-07C910DEBC75}"/>
              </a:ext>
            </a:extLst>
          </p:cNvPr>
          <p:cNvSpPr/>
          <p:nvPr/>
        </p:nvSpPr>
        <p:spPr bwMode="auto">
          <a:xfrm>
            <a:off x="1098435" y="1268666"/>
            <a:ext cx="530072" cy="4356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6BD18C-27B4-1720-04EE-42DB49F3C600}"/>
              </a:ext>
            </a:extLst>
          </p:cNvPr>
          <p:cNvSpPr/>
          <p:nvPr/>
        </p:nvSpPr>
        <p:spPr>
          <a:xfrm>
            <a:off x="845161" y="99354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AD57A4-C20E-2FE0-61B0-717253962340}"/>
              </a:ext>
            </a:extLst>
          </p:cNvPr>
          <p:cNvSpPr/>
          <p:nvPr/>
        </p:nvSpPr>
        <p:spPr bwMode="auto">
          <a:xfrm>
            <a:off x="8682445" y="3971110"/>
            <a:ext cx="824186" cy="1847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7C007F-7459-45FD-E9AA-6B79C1541669}"/>
              </a:ext>
            </a:extLst>
          </p:cNvPr>
          <p:cNvSpPr/>
          <p:nvPr/>
        </p:nvSpPr>
        <p:spPr>
          <a:xfrm>
            <a:off x="8351272" y="3729825"/>
            <a:ext cx="42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⑤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3CB207-0B12-0DE0-9094-78C99341276E}"/>
              </a:ext>
            </a:extLst>
          </p:cNvPr>
          <p:cNvSpPr/>
          <p:nvPr/>
        </p:nvSpPr>
        <p:spPr bwMode="auto">
          <a:xfrm>
            <a:off x="8742689" y="2785529"/>
            <a:ext cx="671278" cy="1847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3778EC-7369-18F5-0047-575F317369E0}"/>
              </a:ext>
            </a:extLst>
          </p:cNvPr>
          <p:cNvSpPr/>
          <p:nvPr/>
        </p:nvSpPr>
        <p:spPr>
          <a:xfrm>
            <a:off x="8444569" y="2567668"/>
            <a:ext cx="42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④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3A8F76-A7E5-CD0D-ECD8-22897BF38C8F}"/>
              </a:ext>
            </a:extLst>
          </p:cNvPr>
          <p:cNvSpPr/>
          <p:nvPr/>
        </p:nvSpPr>
        <p:spPr bwMode="auto">
          <a:xfrm>
            <a:off x="9078328" y="4555320"/>
            <a:ext cx="422255" cy="2504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ADEF97-8A55-7525-FB7D-87D0B996AE0E}"/>
              </a:ext>
            </a:extLst>
          </p:cNvPr>
          <p:cNvSpPr/>
          <p:nvPr/>
        </p:nvSpPr>
        <p:spPr>
          <a:xfrm>
            <a:off x="8753365" y="4311887"/>
            <a:ext cx="42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⑥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050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FA7E-6EFA-ADAB-65D2-131A0BCC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AF432B1-D791-724F-951E-FE98B6BF090E}"/>
              </a:ext>
            </a:extLst>
          </p:cNvPr>
          <p:cNvSpPr txBox="1"/>
          <p:nvPr/>
        </p:nvSpPr>
        <p:spPr>
          <a:xfrm>
            <a:off x="286155" y="1144852"/>
            <a:ext cx="5027487" cy="401062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현재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VS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프로젝트를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GitHub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원격 저장소에 연결하고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push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해줘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.</a:t>
            </a: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조건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: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원격 저장소 주소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: &lt;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GITHUB_repository_URL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GitHub Personal Access Token: &lt;GITHUB_TOKEN&gt;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현재 폴더가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git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저장소가 아니면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git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init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해줘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기본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브랜치는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main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으로 맞춰줘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모든 변경사항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add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후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, "initial commit"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메시지로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commit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해줘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origin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원격 저장소가 없으면 추가하고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있으면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URL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을 위 주소로 변경해줘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토큰을 사용해서 인증 가능한 방식으로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push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해줘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push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완료 후 실행한 명령어와 결과를 간단히 요약해줘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토큰 값은 출력하지 말고 로그에도 그대로 노출하지 말아줘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EB4A04-F857-3A5C-B9C8-F5E36F66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Git </a:t>
            </a:r>
            <a:r>
              <a:rPr lang="ko-KR" altLang="en-US" sz="2500" dirty="0"/>
              <a:t>설치 및 </a:t>
            </a:r>
            <a:r>
              <a:rPr lang="en-US" altLang="ko-KR" sz="2500" dirty="0" err="1"/>
              <a:t>Github</a:t>
            </a:r>
            <a:r>
              <a:rPr lang="en-US" altLang="ko-KR" sz="2500" dirty="0"/>
              <a:t>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1F6A2-DDAA-E9B9-3C4A-2317048F30DC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en-US" altLang="ko-KR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Cline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연결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664837-CAA8-8C27-2488-257F77AD2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933" y="1158697"/>
            <a:ext cx="4329030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FCA5D3-A9A6-109F-4519-D87C5859CAAE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VS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후 프로젝트 폴더 열기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개인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Token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및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URL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 후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프롬포트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Cline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에서 실행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③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Github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새로 고침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push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내용 확인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249636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모자이크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모자이크">
      <a:majorFont>
        <a:latin typeface="HY울릉도M"/>
        <a:ea typeface="HY울릉도M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71EC69F5-F93E-424D-882D-751991C2DE82}" vid="{506874BD-E81E-4F6C-809F-2966E34C977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1758</TotalTime>
  <Words>696</Words>
  <Application>Microsoft Office PowerPoint</Application>
  <PresentationFormat>A4 용지(210x297mm)</PresentationFormat>
  <Paragraphs>142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HY견고딕</vt:lpstr>
      <vt:lpstr>HY울릉도M</vt:lpstr>
      <vt:lpstr>Monotype Sorts</vt:lpstr>
      <vt:lpstr>가는각진제목체</vt:lpstr>
      <vt:lpstr>굴림</vt:lpstr>
      <vt:lpstr>맑은 고딕</vt:lpstr>
      <vt:lpstr>Arial</vt:lpstr>
      <vt:lpstr>Wingdings</vt:lpstr>
      <vt:lpstr>테마1</vt:lpstr>
      <vt:lpstr>Cline 설치 및 API 연결 매뉴얼</vt:lpstr>
      <vt:lpstr>Cline 설치 및 API 연결 매뉴얼</vt:lpstr>
      <vt:lpstr>Cline 설치 및 API 연결 매뉴얼</vt:lpstr>
      <vt:lpstr>Cline 설치 및 API 연결 매뉴얼</vt:lpstr>
      <vt:lpstr>Cline 설치 및 API 연결 매뉴얼</vt:lpstr>
      <vt:lpstr>Cline 설치 및 API 연결 매뉴얼</vt:lpstr>
      <vt:lpstr>Cline 설치 및 API 연결 매뉴얼</vt:lpstr>
      <vt:lpstr>Git 설치 및 Github 연결 매뉴얼</vt:lpstr>
      <vt:lpstr>Git 설치 및 Github 연결 매뉴얼</vt:lpstr>
      <vt:lpstr>Git 설치 및 Github 연결 매뉴얼</vt:lpstr>
      <vt:lpstr>Git 설치 및 Github 연결 매뉴얼</vt:lpstr>
      <vt:lpstr>Git 설치 및 Github 연결 매뉴얼</vt:lpstr>
      <vt:lpstr>Git 설치 및 Github 연결 매뉴얼</vt:lpstr>
      <vt:lpstr>Git 설치 및 Github 연결 매뉴얼</vt:lpstr>
      <vt:lpstr>Git 설치 및 Github 연결 매뉴얼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SSL VPN 사용자 매뉴얼(PC 버전)</dc:title>
  <dc:creator>D1059</dc:creator>
  <cp:lastModifiedBy>이 주상</cp:lastModifiedBy>
  <cp:revision>205</cp:revision>
  <dcterms:created xsi:type="dcterms:W3CDTF">2025-03-04T01:16:08Z</dcterms:created>
  <dcterms:modified xsi:type="dcterms:W3CDTF">2026-07-13T05:54:53Z</dcterms:modified>
</cp:coreProperties>
</file>